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15124113"/>
  <p:notesSz cx="15124113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2" d="100"/>
          <a:sy n="52" d="100"/>
        </p:scale>
        <p:origin x="2011" y="-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277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3_PO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0"/>
            <a:ext cx="9957816" cy="9801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057852"/>
            <a:ext cx="10689336" cy="1904284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796170" y="1038869"/>
            <a:ext cx="2945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chemeClr val="bg1"/>
                </a:solidFill>
                <a:latin typeface="Bahnschrift" panose="020B0502040204020203" pitchFamily="34" charset="0"/>
              </a:rPr>
              <a:t>PROJECT-I (CEUP 301</a:t>
            </a:r>
            <a:r>
              <a:rPr lang="en-US" sz="1800" b="1" kern="0" spc="2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  <a:endParaRPr lang="en-US" sz="1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14584680"/>
            <a:ext cx="10689336" cy="53949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4584680"/>
            <a:ext cx="97749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DEPARTMENT OF COMPUTER SCIENCE &amp; ENGINEERING  |  CSPIT, CHARUSAT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Text 4"/>
          <p:cNvSpPr>
            <a:spLocks noGrp="1"/>
          </p:cNvSpPr>
          <p:nvPr>
            <p:ph type="title" idx="105" hasCustomPrompt="1"/>
          </p:nvPr>
        </p:nvSpPr>
        <p:spPr>
          <a:xfrm>
            <a:off x="548640" y="1412706"/>
            <a:ext cx="9774936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Bahnschrift" panose="020B0502040204020203" pitchFamily="34" charset="0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PROJECT TITLE GOES HERE</a:t>
            </a:r>
            <a:endParaRPr lang="en-US" sz="4000" dirty="0"/>
          </a:p>
        </p:txBody>
      </p:sp>
      <p:sp>
        <p:nvSpPr>
          <p:cNvPr id="8" name="Text 4"/>
          <p:cNvSpPr>
            <a:spLocks noGrp="1"/>
          </p:cNvSpPr>
          <p:nvPr>
            <p:ph type="body" idx="106" hasCustomPrompt="1"/>
          </p:nvPr>
        </p:nvSpPr>
        <p:spPr>
          <a:xfrm>
            <a:off x="457200" y="3108960"/>
            <a:ext cx="9774936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i="1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r>
              <a:rPr lang="en-US" sz="1800" i="1" dirty="0">
                <a:solidFill>
                  <a:schemeClr val="bg2"/>
                </a:solidFill>
              </a:rPr>
              <a:t>One-line tagline describing what your project does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Mentor header"/>
          <p:cNvSpPr/>
          <p:nvPr/>
        </p:nvSpPr>
        <p:spPr>
          <a:xfrm>
            <a:off x="7759510" y="2497354"/>
            <a:ext cx="2916936" cy="384048"/>
          </a:xfrm>
          <a:prstGeom prst="rect">
            <a:avLst/>
          </a:prstGeom>
          <a:solidFill>
            <a:srgbClr val="1960A3"/>
          </a:solidFill>
          <a:ln w="6350">
            <a:solidFill>
              <a:schemeClr val="tx2"/>
            </a:solidFill>
            <a:prstDash val="solid"/>
          </a:ln>
          <a:effectLst>
            <a:softEdge rad="25400"/>
          </a:effectLst>
        </p:spPr>
      </p:sp>
      <p:sp>
        <p:nvSpPr>
          <p:cNvPr id="2" name="Text 4"/>
          <p:cNvSpPr>
            <a:spLocks noGrp="1"/>
          </p:cNvSpPr>
          <p:nvPr>
            <p:ph type="title" idx="105" hasCustomPrompt="1"/>
          </p:nvPr>
        </p:nvSpPr>
        <p:spPr>
          <a:xfrm>
            <a:off x="548640" y="1389888"/>
            <a:ext cx="9774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SCHEMESETU</a:t>
            </a:r>
          </a:p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GOVERNMENT SCHEME FINDER</a:t>
            </a:r>
          </a:p>
        </p:txBody>
      </p:sp>
      <p:sp>
        <p:nvSpPr>
          <p:cNvPr id="3" name="Text 4"/>
          <p:cNvSpPr>
            <a:spLocks noGrp="1"/>
          </p:cNvSpPr>
          <p:nvPr>
            <p:ph type="body" idx="106" hasCustomPrompt="1"/>
          </p:nvPr>
        </p:nvSpPr>
        <p:spPr>
          <a:xfrm>
            <a:off x="365760" y="2951654"/>
            <a:ext cx="9774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Search 4,722 Indian government schemes and see, in English or Hindi, which ones you are eligible for.</a:t>
            </a:r>
          </a:p>
        </p:txBody>
      </p:sp>
      <p:graphicFrame>
        <p:nvGraphicFramePr>
          <p:cNvPr id="4" name="Tea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060960"/>
              </p:ext>
            </p:extLst>
          </p:nvPr>
        </p:nvGraphicFramePr>
        <p:xfrm>
          <a:off x="374904" y="3522545"/>
          <a:ext cx="6675120" cy="10972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Sr.</a:t>
                      </a:r>
                      <a:endParaRPr lang="en-US" sz="18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0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Student Name</a:t>
                      </a:r>
                      <a:endParaRPr lang="en-US" sz="18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0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Roll No.</a:t>
                      </a:r>
                      <a:endParaRPr lang="en-US" sz="18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0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2333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B2333"/>
                          </a:solidFill>
                        </a:rPr>
                        <a:t>Urja Gajera</a:t>
                      </a:r>
                      <a:endParaRPr lang="en-US" sz="18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2333"/>
                          </a:solidFill>
                        </a:rPr>
                        <a:t>24CS021</a:t>
                      </a:r>
                      <a:endParaRPr lang="en-US" sz="18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Mentor card"/>
          <p:cNvSpPr/>
          <p:nvPr/>
        </p:nvSpPr>
        <p:spPr>
          <a:xfrm>
            <a:off x="7232904" y="3522545"/>
            <a:ext cx="2916936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Mentor header"/>
          <p:cNvSpPr/>
          <p:nvPr/>
        </p:nvSpPr>
        <p:spPr>
          <a:xfrm>
            <a:off x="7232904" y="3522545"/>
            <a:ext cx="2916936" cy="384048"/>
          </a:xfrm>
          <a:prstGeom prst="rect">
            <a:avLst/>
          </a:prstGeom>
          <a:solidFill>
            <a:srgbClr val="1960A3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Mentor label"/>
          <p:cNvSpPr txBox="1"/>
          <p:nvPr/>
        </p:nvSpPr>
        <p:spPr>
          <a:xfrm>
            <a:off x="7370064" y="3522545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/ GUIDE</a:t>
            </a:r>
            <a:endParaRPr lang="en-US" sz="1800" dirty="0"/>
          </a:p>
        </p:txBody>
      </p:sp>
      <p:sp>
        <p:nvSpPr>
          <p:cNvPr id="8" name="Mentor name"/>
          <p:cNvSpPr txBox="1"/>
          <p:nvPr/>
        </p:nvSpPr>
        <p:spPr>
          <a:xfrm>
            <a:off x="7339584" y="3949844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Dr. Jigar Sarda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CSE Dept., CSPIT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System flow card"/>
          <p:cNvSpPr/>
          <p:nvPr/>
        </p:nvSpPr>
        <p:spPr>
          <a:xfrm>
            <a:off x="374904" y="5019141"/>
            <a:ext cx="9774936" cy="2606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System flow header"/>
          <p:cNvSpPr/>
          <p:nvPr/>
        </p:nvSpPr>
        <p:spPr>
          <a:xfrm>
            <a:off x="374904" y="5019141"/>
            <a:ext cx="9774936" cy="411480"/>
          </a:xfrm>
          <a:prstGeom prst="rect">
            <a:avLst/>
          </a:prstGeom>
          <a:solidFill>
            <a:srgbClr val="1960A3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9" name="System flow label"/>
          <p:cNvSpPr txBox="1"/>
          <p:nvPr/>
        </p:nvSpPr>
        <p:spPr>
          <a:xfrm>
            <a:off x="512064" y="5019141"/>
            <a:ext cx="9500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FLOW / </a:t>
            </a:r>
            <a:r>
              <a:rPr lang="en-US" sz="1800" b="1" dirty="0">
                <a:solidFill>
                  <a:schemeClr val="bg1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20" name="Flow box 1"/>
          <p:cNvSpPr/>
          <p:nvPr/>
        </p:nvSpPr>
        <p:spPr>
          <a:xfrm>
            <a:off x="644652" y="5750661"/>
            <a:ext cx="1554480" cy="1143000"/>
          </a:xfrm>
          <a:prstGeom prst="roundRect">
            <a:avLst>
              <a:gd name="adj" fmla="val 9600"/>
            </a:avLst>
          </a:prstGeom>
          <a:solidFill>
            <a:schemeClr val="accent5">
              <a:lumMod val="75000"/>
            </a:schemeClr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1" name="Flow label 1"/>
          <p:cNvSpPr txBox="1"/>
          <p:nvPr/>
        </p:nvSpPr>
        <p:spPr>
          <a:xfrm>
            <a:off x="699516" y="5805525"/>
            <a:ext cx="1444752" cy="10332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User</a:t>
            </a:r>
          </a:p>
          <a:p>
            <a:pPr marL="0" indent="0" algn="ctr">
              <a:buNone/>
            </a:pPr>
            <a:r>
              <a:rPr lang="en-US" sz="1100" b="0" dirty="0">
                <a:solidFill>
                  <a:schemeClr val="bg1"/>
                </a:solidFill>
              </a:rPr>
              <a:t>React web app (English, हिन्दी)</a:t>
            </a:r>
          </a:p>
        </p:txBody>
      </p:sp>
      <p:sp>
        <p:nvSpPr>
          <p:cNvPr id="22" name="Flow arrow 1"/>
          <p:cNvSpPr/>
          <p:nvPr/>
        </p:nvSpPr>
        <p:spPr>
          <a:xfrm>
            <a:off x="2253996" y="6185001"/>
            <a:ext cx="256032" cy="27432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3" name="Flow box 2"/>
          <p:cNvSpPr/>
          <p:nvPr/>
        </p:nvSpPr>
        <p:spPr>
          <a:xfrm>
            <a:off x="2564892" y="5750661"/>
            <a:ext cx="1554480" cy="1143000"/>
          </a:xfrm>
          <a:prstGeom prst="roundRect">
            <a:avLst>
              <a:gd name="adj" fmla="val 9600"/>
            </a:avLst>
          </a:prstGeom>
          <a:solidFill>
            <a:srgbClr val="1960A3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4" name="Flow label 2"/>
          <p:cNvSpPr txBox="1"/>
          <p:nvPr/>
        </p:nvSpPr>
        <p:spPr>
          <a:xfrm>
            <a:off x="2619756" y="5805525"/>
            <a:ext cx="1444752" cy="10332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>
            <a:lvl1pPr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 sz="1500" b="1"/>
              <a:t>Express API</a:t>
            </a:r>
          </a:p>
          <a:p>
            <a:r>
              <a:rPr lang="en-US" dirty="0" sz="1100" b="0"/>
              <a:t>Google sign-in, validation, rate limits</a:t>
            </a:r>
          </a:p>
        </p:txBody>
      </p:sp>
      <p:sp>
        <p:nvSpPr>
          <p:cNvPr id="25" name="Flow arrow 2"/>
          <p:cNvSpPr/>
          <p:nvPr/>
        </p:nvSpPr>
        <p:spPr>
          <a:xfrm>
            <a:off x="4174236" y="6185001"/>
            <a:ext cx="256032" cy="27432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6" name="Flow box 3"/>
          <p:cNvSpPr/>
          <p:nvPr/>
        </p:nvSpPr>
        <p:spPr>
          <a:xfrm>
            <a:off x="4485132" y="5750661"/>
            <a:ext cx="1554480" cy="1143000"/>
          </a:xfrm>
          <a:prstGeom prst="roundRect">
            <a:avLst>
              <a:gd name="adj" fmla="val 9600"/>
            </a:avLst>
          </a:prstGeom>
          <a:solidFill>
            <a:schemeClr val="accent5">
              <a:lumMod val="75000"/>
            </a:schemeClr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7" name="Flow label 3"/>
          <p:cNvSpPr txBox="1"/>
          <p:nvPr/>
        </p:nvSpPr>
        <p:spPr>
          <a:xfrm>
            <a:off x="4539996" y="5805525"/>
            <a:ext cx="1444752" cy="10332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Eligibility Engine</a:t>
            </a:r>
          </a:p>
          <a:p>
            <a:pPr marL="0" indent="0" algn="ctr">
              <a:buNone/>
            </a:pPr>
            <a:r>
              <a:rPr lang="en-US" sz="1100" b="0" dirty="0">
                <a:solidFill>
                  <a:schemeClr val="bg1"/>
                </a:solidFill>
              </a:rPr>
              <a:t>Rule checks; unknown never excludes</a:t>
            </a:r>
          </a:p>
        </p:txBody>
      </p:sp>
      <p:sp>
        <p:nvSpPr>
          <p:cNvPr id="28" name="Flow arrow 3"/>
          <p:cNvSpPr/>
          <p:nvPr/>
        </p:nvSpPr>
        <p:spPr>
          <a:xfrm>
            <a:off x="6094476" y="6185001"/>
            <a:ext cx="256032" cy="27432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9" name="Flow box 4"/>
          <p:cNvSpPr/>
          <p:nvPr/>
        </p:nvSpPr>
        <p:spPr>
          <a:xfrm>
            <a:off x="6405372" y="5750661"/>
            <a:ext cx="1554480" cy="1143000"/>
          </a:xfrm>
          <a:prstGeom prst="roundRect">
            <a:avLst>
              <a:gd name="adj" fmla="val 9600"/>
            </a:avLst>
          </a:prstGeom>
          <a:solidFill>
            <a:srgbClr val="1960A3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0" name="Flow label 4"/>
          <p:cNvSpPr txBox="1"/>
          <p:nvPr/>
        </p:nvSpPr>
        <p:spPr>
          <a:xfrm>
            <a:off x="6460236" y="5805525"/>
            <a:ext cx="1444752" cy="10332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chemeClr val="bg1"/>
                </a:solidFill>
              </a:rPr>
              <a:t>PostgreSQL</a:t>
            </a:r>
          </a:p>
          <a:p>
            <a:pPr marL="0" indent="0" algn="ctr">
              <a:buNone/>
            </a:pPr>
            <a:r>
              <a:rPr lang="en-US" sz="1100" b="0" dirty="0" smtClean="0">
                <a:solidFill>
                  <a:schemeClr val="bg1"/>
                </a:solidFill>
              </a:rPr>
              <a:t>4,722 schemes, 2,987 rule sets (Prisma)</a:t>
            </a:r>
          </a:p>
        </p:txBody>
      </p:sp>
      <p:sp>
        <p:nvSpPr>
          <p:cNvPr id="31" name="Flow arrow 4"/>
          <p:cNvSpPr/>
          <p:nvPr/>
        </p:nvSpPr>
        <p:spPr>
          <a:xfrm>
            <a:off x="8014716" y="6185001"/>
            <a:ext cx="256032" cy="27432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2" name="Flow box 5"/>
          <p:cNvSpPr/>
          <p:nvPr/>
        </p:nvSpPr>
        <p:spPr>
          <a:xfrm>
            <a:off x="8325612" y="5750661"/>
            <a:ext cx="1554480" cy="1143000"/>
          </a:xfrm>
          <a:prstGeom prst="roundRect">
            <a:avLst>
              <a:gd name="adj" fmla="val 9600"/>
            </a:avLst>
          </a:prstGeom>
          <a:solidFill>
            <a:schemeClr val="accent5">
              <a:lumMod val="75000"/>
            </a:schemeClr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3" name="Flow label 5"/>
          <p:cNvSpPr txBox="1"/>
          <p:nvPr/>
        </p:nvSpPr>
        <p:spPr>
          <a:xfrm>
            <a:off x="8380476" y="5805525"/>
            <a:ext cx="1444752" cy="10332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Ranked Results</a:t>
            </a:r>
          </a:p>
          <a:p>
            <a:pPr marL="0" indent="0" algn="ctr">
              <a:buNone/>
            </a:pPr>
            <a:r>
              <a:rPr lang="en-US" sz="1100" b="0" dirty="0">
                <a:solidFill>
                  <a:schemeClr val="bg1"/>
                </a:solidFill>
              </a:rPr>
              <a:t>Match %, 100% matches first</a:t>
            </a:r>
          </a:p>
        </p:txBody>
      </p:sp>
      <p:sp>
        <p:nvSpPr>
          <p:cNvPr id="34" name="Flow hint"/>
          <p:cNvSpPr txBox="1"/>
          <p:nvPr/>
        </p:nvSpPr>
        <p:spPr>
          <a:xfrm>
            <a:off x="557784" y="7122261"/>
            <a:ext cx="9409176" cy="7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/>
              <a:t>Data pipeline: myScheme.gov.in dataset → parser (cleans text, extracts eligibility rules) → PostgreSQL.</a:t>
            </a:r>
          </a:p>
          <a:p>
            <a:pPr marL="0" indent="0">
              <a:buNone/>
            </a:pPr>
            <a:r>
              <a:rPr lang="en-US" sz="1400" b="1" i="1" dirty="0"/>
              <a:t>Hindi text is made once by an AI model (Groq) with automatic quality checks, then stored.</a:t>
            </a:r>
          </a:p>
        </p:txBody>
      </p:sp>
      <p:sp>
        <p:nvSpPr>
          <p:cNvPr id="35" name="Tech 1 card"/>
          <p:cNvSpPr/>
          <p:nvPr/>
        </p:nvSpPr>
        <p:spPr>
          <a:xfrm>
            <a:off x="374904" y="7739481"/>
            <a:ext cx="3136392" cy="2240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6" name="Tech 1 header"/>
          <p:cNvSpPr/>
          <p:nvPr/>
        </p:nvSpPr>
        <p:spPr>
          <a:xfrm>
            <a:off x="374904" y="7739481"/>
            <a:ext cx="3136392" cy="365760"/>
          </a:xfrm>
          <a:prstGeom prst="rect">
            <a:avLst/>
          </a:prstGeom>
          <a:solidFill>
            <a:srgbClr val="1960A3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7" name="Tech 1 label"/>
          <p:cNvSpPr txBox="1"/>
          <p:nvPr/>
        </p:nvSpPr>
        <p:spPr>
          <a:xfrm>
            <a:off x="512064" y="7739481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TECHNOLOGY</a:t>
            </a: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STACK</a:t>
            </a:r>
            <a:endParaRPr lang="en-US" sz="1800" dirty="0"/>
          </a:p>
        </p:txBody>
      </p:sp>
      <p:sp>
        <p:nvSpPr>
          <p:cNvPr id="38" name="Tech text 1"/>
          <p:cNvSpPr txBox="1"/>
          <p:nvPr/>
        </p:nvSpPr>
        <p:spPr>
          <a:xfrm>
            <a:off x="512064" y="8196681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Frontend: React 19, TypeScript, Vite, Tailwind CSS</a:t>
            </a: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Backend / DB: Node.js, Express, Prisma, PostgreSQL</a:t>
            </a: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Tools: Google OAuth, Zod, Groq AI (Hindi), Vitest (1,035 tests), GitHub Actions CI</a:t>
            </a:r>
          </a:p>
        </p:txBody>
      </p:sp>
      <p:sp>
        <p:nvSpPr>
          <p:cNvPr id="39" name="Tech 2 card"/>
          <p:cNvSpPr/>
          <p:nvPr/>
        </p:nvSpPr>
        <p:spPr>
          <a:xfrm>
            <a:off x="3694176" y="7739481"/>
            <a:ext cx="3136392" cy="2240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Tech 2 header"/>
          <p:cNvSpPr/>
          <p:nvPr/>
        </p:nvSpPr>
        <p:spPr>
          <a:xfrm>
            <a:off x="3694176" y="7739481"/>
            <a:ext cx="3136392" cy="365760"/>
          </a:xfrm>
          <a:prstGeom prst="rect">
            <a:avLst/>
          </a:prstGeom>
          <a:solidFill>
            <a:srgbClr val="1960A3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1" name="Tech 2 label"/>
          <p:cNvSpPr txBox="1"/>
          <p:nvPr/>
        </p:nvSpPr>
        <p:spPr>
          <a:xfrm>
            <a:off x="3831336" y="7739481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</a:t>
            </a:r>
            <a:r>
              <a:rPr lang="en-US" sz="1800" b="1" dirty="0">
                <a:solidFill>
                  <a:schemeClr val="bg1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42" name="Tech text 2"/>
          <p:cNvSpPr txBox="1"/>
          <p:nvPr/>
        </p:nvSpPr>
        <p:spPr>
          <a:xfrm>
            <a:off x="3831336" y="8196681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Eligibility check with match % and reasons, 100% matches first</a:t>
            </a: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Search by 16 topics, state, age, income and occupation</a:t>
            </a: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English and Hindi (Hindi labelled as machine-translated)</a:t>
            </a: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Profile suggestions, bookmarks, compare up to 3 schemes</a:t>
            </a:r>
          </a:p>
        </p:txBody>
      </p:sp>
      <p:sp>
        <p:nvSpPr>
          <p:cNvPr id="43" name="Tech 3 card"/>
          <p:cNvSpPr/>
          <p:nvPr/>
        </p:nvSpPr>
        <p:spPr>
          <a:xfrm>
            <a:off x="7013448" y="7739481"/>
            <a:ext cx="3136392" cy="2240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Tech 3 header"/>
          <p:cNvSpPr/>
          <p:nvPr/>
        </p:nvSpPr>
        <p:spPr>
          <a:xfrm>
            <a:off x="7013448" y="7739481"/>
            <a:ext cx="3136392" cy="365760"/>
          </a:xfrm>
          <a:prstGeom prst="rect">
            <a:avLst/>
          </a:prstGeom>
          <a:solidFill>
            <a:srgbClr val="1960A3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5" name="Tech 3 label"/>
          <p:cNvSpPr txBox="1"/>
          <p:nvPr/>
        </p:nvSpPr>
        <p:spPr>
          <a:xfrm>
            <a:off x="7150608" y="7739481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46" name="Tech text 3"/>
          <p:cNvSpPr txBox="1"/>
          <p:nvPr/>
        </p:nvSpPr>
        <p:spPr>
          <a:xfrm>
            <a:off x="7150608" y="8196681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Citizens finding the schemes they qualify for</a:t>
            </a: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Students and farmers looking for scholarships, subsidies and loans</a:t>
            </a: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NGOs and CSC operators helping people apply</a:t>
            </a:r>
          </a:p>
        </p:txBody>
      </p:sp>
      <p:sp>
        <p:nvSpPr>
          <p:cNvPr id="47" name="Screenshots card"/>
          <p:cNvSpPr/>
          <p:nvPr/>
        </p:nvSpPr>
        <p:spPr>
          <a:xfrm>
            <a:off x="374904" y="10094061"/>
            <a:ext cx="9774936" cy="3703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Screenshots header"/>
          <p:cNvSpPr/>
          <p:nvPr/>
        </p:nvSpPr>
        <p:spPr>
          <a:xfrm>
            <a:off x="374904" y="10094061"/>
            <a:ext cx="9774936" cy="514350"/>
          </a:xfrm>
          <a:prstGeom prst="rect">
            <a:avLst/>
          </a:prstGeom>
          <a:solidFill>
            <a:srgbClr val="1960A3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9" name="Screenshots label"/>
          <p:cNvSpPr txBox="1"/>
          <p:nvPr/>
        </p:nvSpPr>
        <p:spPr>
          <a:xfrm>
            <a:off x="512064" y="10094061"/>
            <a:ext cx="95006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</a:t>
            </a:r>
            <a:r>
              <a:rPr lang="en-US" sz="1800" b="1" dirty="0">
                <a:solidFill>
                  <a:schemeClr val="bg1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SCREENSHOTS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50" name="Screenshot frame 1"/>
          <p:cNvSpPr/>
          <p:nvPr/>
        </p:nvSpPr>
        <p:spPr>
          <a:xfrm>
            <a:off x="570675" y="10847665"/>
            <a:ext cx="3014472" cy="2788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2" name="Screenshot caption 1"/>
          <p:cNvSpPr txBox="1"/>
          <p:nvPr/>
        </p:nvSpPr>
        <p:spPr>
          <a:xfrm>
            <a:off x="570675" y="13109056"/>
            <a:ext cx="301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Home – search 4,722 schemes</a:t>
            </a:r>
          </a:p>
        </p:txBody>
      </p:sp>
      <p:sp>
        <p:nvSpPr>
          <p:cNvPr id="53" name="Screenshot frame 2"/>
          <p:cNvSpPr/>
          <p:nvPr/>
        </p:nvSpPr>
        <p:spPr>
          <a:xfrm>
            <a:off x="3768027" y="10847665"/>
            <a:ext cx="3014472" cy="2788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5" name="Screenshot caption 2"/>
          <p:cNvSpPr txBox="1"/>
          <p:nvPr/>
        </p:nvSpPr>
        <p:spPr>
          <a:xfrm>
            <a:off x="3768027" y="13108519"/>
            <a:ext cx="301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Eligibility check – 100% matches first</a:t>
            </a:r>
          </a:p>
        </p:txBody>
      </p:sp>
      <p:sp>
        <p:nvSpPr>
          <p:cNvPr id="56" name="Screenshot frame 3"/>
          <p:cNvSpPr/>
          <p:nvPr/>
        </p:nvSpPr>
        <p:spPr>
          <a:xfrm>
            <a:off x="6965379" y="10847665"/>
            <a:ext cx="3014472" cy="2788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8" name="Screenshot caption 3"/>
          <p:cNvSpPr txBox="1"/>
          <p:nvPr/>
        </p:nvSpPr>
        <p:spPr>
          <a:xfrm>
            <a:off x="6965379" y="13108519"/>
            <a:ext cx="301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Hindi interface (हिन्दी)</a:t>
            </a:r>
          </a:p>
        </p:txBody>
      </p:sp>
      <p:sp>
        <p:nvSpPr>
          <p:cNvPr id="60" name="Mentor label"/>
          <p:cNvSpPr txBox="1"/>
          <p:nvPr/>
        </p:nvSpPr>
        <p:spPr>
          <a:xfrm>
            <a:off x="7850950" y="2497477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Id- CS26015</a:t>
            </a:r>
          </a:p>
        </p:txBody>
      </p:sp>
      <p:sp>
        <p:nvSpPr>
          <p:cNvPr id="62" name="Screenshots header"/>
          <p:cNvSpPr/>
          <p:nvPr/>
        </p:nvSpPr>
        <p:spPr>
          <a:xfrm>
            <a:off x="374904" y="13911681"/>
            <a:ext cx="9774936" cy="514350"/>
          </a:xfrm>
          <a:prstGeom prst="rect">
            <a:avLst/>
          </a:prstGeom>
          <a:solidFill>
            <a:srgbClr val="1960A3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63" name="Screenshots label"/>
          <p:cNvSpPr txBox="1"/>
          <p:nvPr/>
        </p:nvSpPr>
        <p:spPr>
          <a:xfrm>
            <a:off x="512064" y="13911681"/>
            <a:ext cx="95006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sz="200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INDUSTRY / SECTOR : -   E-Governance / Social Welfare (GovTech)</a:t>
            </a:r>
          </a:p>
        </p:txBody>
      </p:sp>
      <p:pic>
        <p:nvPicPr>
          <p:cNvPr id="64" name="Screenshot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27" y="10920817"/>
            <a:ext cx="2868168" cy="2151663"/>
          </a:xfrm>
          <a:prstGeom prst="rect">
            <a:avLst/>
          </a:prstGeom>
        </p:spPr>
      </p:pic>
      <p:pic>
        <p:nvPicPr>
          <p:cNvPr id="65" name="Screenshot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1179" y="10920817"/>
            <a:ext cx="2868168" cy="2151126"/>
          </a:xfrm>
          <a:prstGeom prst="rect">
            <a:avLst/>
          </a:prstGeom>
        </p:spPr>
      </p:pic>
      <p:pic>
        <p:nvPicPr>
          <p:cNvPr id="66" name="Screenshot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8531" y="10920817"/>
            <a:ext cx="2868168" cy="21511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RUSAT Poster">
  <a:themeElements>
    <a:clrScheme name="Office">
      <a:dk1>
        <a:sysClr val="windowText" lastClr="000000"/>
      </a:dk1>
      <a:lt1>
        <a:sysClr val="window" lastClr="FFFFFF"/>
      </a:lt1>
      <a:dk2>
        <a:srgbClr val="002045"/>
      </a:dk2>
      <a:lt2>
        <a:srgbClr val="EFEDF1"/>
      </a:lt2>
      <a:accent1>
        <a:srgbClr val="7DB6FF"/>
      </a:accent1>
      <a:accent2>
        <a:srgbClr val="1960A3"/>
      </a:accent2>
      <a:accent3>
        <a:srgbClr val="A5A5A5"/>
      </a:accent3>
      <a:accent4>
        <a:srgbClr val="FFC000"/>
      </a:accent4>
      <a:accent5>
        <a:srgbClr val="002045"/>
      </a:accent5>
      <a:accent6>
        <a:srgbClr val="70AD47"/>
      </a:accent6>
      <a:hlink>
        <a:srgbClr val="0563C1"/>
      </a:hlink>
      <a:folHlink>
        <a:srgbClr val="954F72"/>
      </a:folHlink>
    </a:clrScheme>
    <a:fontScheme name="CHARUSAT Post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2045"/>
      </a:dk2>
      <a:lt2>
        <a:srgbClr val="EFEDF1"/>
      </a:lt2>
      <a:accent1>
        <a:srgbClr val="7DB6FF"/>
      </a:accent1>
      <a:accent2>
        <a:srgbClr val="1960A3"/>
      </a:accent2>
      <a:accent3>
        <a:srgbClr val="A5A5A5"/>
      </a:accent3>
      <a:accent4>
        <a:srgbClr val="FFC000"/>
      </a:accent4>
      <a:accent5>
        <a:srgbClr val="00204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248</Words>
  <Application>Microsoft Office PowerPoint</Application>
  <PresentationFormat>Custom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Bahnschrift</vt:lpstr>
      <vt:lpstr>Calibri</vt:lpstr>
      <vt:lpstr>CHARUSAT Poster</vt:lpstr>
      <vt:lpstr>YOUR PROJECT TITLE GOES HERE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Project-I Exhibition Poster (A3)</dc:title>
  <dc:subject>PptxGenJS Presentation</dc:subject>
  <dc:creator>CSE Department, CSPIT, CHARUSAT</dc:creator>
  <cp:lastModifiedBy>CHARUSAT</cp:lastModifiedBy>
  <cp:revision>6</cp:revision>
  <dcterms:created xsi:type="dcterms:W3CDTF">2026-10-18T12:32:38Z</dcterms:created>
  <dcterms:modified xsi:type="dcterms:W3CDTF">2026-10-18T13:20:56Z</dcterms:modified>
</cp:coreProperties>
</file>