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0688638" cy="15124113"/>
  <p:notesSz cx="15124113" cy="106886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99"/>
    <a:srgbClr val="A500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1301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82771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3_POS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0"/>
            <a:ext cx="9957816" cy="98014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1057852"/>
            <a:ext cx="10689336" cy="1904284"/>
          </a:xfrm>
          <a:prstGeom prst="rect">
            <a:avLst/>
          </a:prstGeom>
          <a:solidFill>
            <a:schemeClr val="tx2">
              <a:lumMod val="75000"/>
            </a:scheme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796170" y="1038869"/>
            <a:ext cx="29452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200" dirty="0">
                <a:solidFill>
                  <a:schemeClr val="bg1"/>
                </a:solidFill>
                <a:latin typeface="Bahnschrift" panose="020B0502040204020203" pitchFamily="34" charset="0"/>
              </a:rPr>
              <a:t>PROJECT-I (CEUP 301)</a:t>
            </a:r>
            <a:endParaRPr lang="en-US" sz="1800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5" name="Shape 2"/>
          <p:cNvSpPr/>
          <p:nvPr/>
        </p:nvSpPr>
        <p:spPr>
          <a:xfrm>
            <a:off x="0" y="14584680"/>
            <a:ext cx="10689336" cy="539496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57200" y="14584680"/>
            <a:ext cx="977493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  <a:latin typeface="Bahnschrift" panose="020B0502040204020203" pitchFamily="34" charset="0"/>
              </a:rPr>
              <a:t>DEPARTMENT OF COMPUTER SCIENCE &amp; ENGINEERING  |  CSPIT, CHARUSAT</a:t>
            </a:r>
            <a:endParaRPr lang="en-US" sz="1600" dirty="0">
              <a:solidFill>
                <a:schemeClr val="bg1">
                  <a:lumMod val="9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7" name="Text 4"/>
          <p:cNvSpPr>
            <a:spLocks noGrp="1"/>
          </p:cNvSpPr>
          <p:nvPr>
            <p:ph type="title" idx="105" hasCustomPrompt="1"/>
          </p:nvPr>
        </p:nvSpPr>
        <p:spPr>
          <a:xfrm>
            <a:off x="548640" y="1412706"/>
            <a:ext cx="9774936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>
                    <a:lumMod val="95000"/>
                  </a:schemeClr>
                </a:solidFill>
                <a:latin typeface="Bahnschrift" panose="020B0502040204020203" pitchFamily="34" charset="0"/>
                <a:ea typeface="Bahnschrift" panose="020B0502040204020203" pitchFamily="34" charset="0"/>
                <a:cs typeface="Arial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PROJECT TITLE GOES HERE</a:t>
            </a:r>
            <a:endParaRPr lang="en-US" sz="4000" dirty="0"/>
          </a:p>
        </p:txBody>
      </p:sp>
      <p:sp>
        <p:nvSpPr>
          <p:cNvPr id="8" name="Text 4"/>
          <p:cNvSpPr>
            <a:spLocks noGrp="1"/>
          </p:cNvSpPr>
          <p:nvPr>
            <p:ph type="body" idx="106" hasCustomPrompt="1"/>
          </p:nvPr>
        </p:nvSpPr>
        <p:spPr>
          <a:xfrm>
            <a:off x="457200" y="3108960"/>
            <a:ext cx="9774936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i="1" dirty="0">
                <a:solidFill>
                  <a:schemeClr val="bg2"/>
                </a:solidFill>
              </a:defRPr>
            </a:lvl1pPr>
          </a:lstStyle>
          <a:p>
            <a:pPr marL="0" indent="0" algn="l">
              <a:buNone/>
            </a:pPr>
            <a:r>
              <a:rPr lang="en-US" sz="1800" i="1" dirty="0">
                <a:solidFill>
                  <a:schemeClr val="bg2"/>
                </a:solidFill>
              </a:rPr>
              <a:t>One-line tagline describing what your project does</a:t>
            </a: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Mentor header"/>
          <p:cNvSpPr/>
          <p:nvPr/>
        </p:nvSpPr>
        <p:spPr>
          <a:xfrm>
            <a:off x="7782660" y="2497354"/>
            <a:ext cx="2916936" cy="384048"/>
          </a:xfrm>
          <a:prstGeom prst="rect">
            <a:avLst/>
          </a:prstGeom>
          <a:solidFill>
            <a:srgbClr val="1960A3"/>
          </a:solidFill>
          <a:ln w="6350">
            <a:solidFill>
              <a:schemeClr val="tx2"/>
            </a:solidFill>
            <a:prstDash val="solid"/>
          </a:ln>
          <a:effectLst>
            <a:softEdge rad="25400"/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2" name="Text 4"/>
          <p:cNvSpPr>
            <a:spLocks noGrp="1"/>
          </p:cNvSpPr>
          <p:nvPr>
            <p:ph type="title" idx="105" hasCustomPrompt="1"/>
          </p:nvPr>
        </p:nvSpPr>
        <p:spPr>
          <a:xfrm>
            <a:off x="548640" y="1389888"/>
            <a:ext cx="97749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SCHEMESETU</a:t>
            </a:r>
          </a:p>
          <a:p>
            <a:pPr marL="0" indent="0" algn="l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GOVERNMENT SCHEME FINDER</a:t>
            </a:r>
          </a:p>
        </p:txBody>
      </p:sp>
      <p:sp>
        <p:nvSpPr>
          <p:cNvPr id="3" name="Text 4"/>
          <p:cNvSpPr>
            <a:spLocks noGrp="1"/>
          </p:cNvSpPr>
          <p:nvPr>
            <p:ph type="body" idx="106" hasCustomPrompt="1"/>
          </p:nvPr>
        </p:nvSpPr>
        <p:spPr>
          <a:xfrm>
            <a:off x="378782" y="3020018"/>
            <a:ext cx="99447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Search 4,722 Indian government schemes and see</a:t>
            </a:r>
            <a:r>
              <a:rPr lang="en-US" sz="1600" b="1" dirty="0">
                <a:solidFill>
                  <a:schemeClr val="tx1"/>
                </a:solidFill>
              </a:rPr>
              <a:t> every details</a:t>
            </a:r>
            <a:r>
              <a:rPr lang="en-US" sz="1600" b="1" i="1" dirty="0">
                <a:solidFill>
                  <a:schemeClr val="tx1"/>
                </a:solidFill>
              </a:rPr>
              <a:t> in English or Hindi</a:t>
            </a:r>
            <a:r>
              <a:rPr lang="en-US" sz="1600" b="1" dirty="0">
                <a:solidFill>
                  <a:schemeClr val="tx1"/>
                </a:solidFill>
              </a:rPr>
              <a:t> and </a:t>
            </a:r>
            <a:r>
              <a:rPr lang="en-US" sz="1600" b="1" i="1" dirty="0">
                <a:solidFill>
                  <a:schemeClr val="tx1"/>
                </a:solidFill>
              </a:rPr>
              <a:t>which ones you are eligible for.</a:t>
            </a:r>
          </a:p>
        </p:txBody>
      </p:sp>
      <p:graphicFrame>
        <p:nvGraphicFramePr>
          <p:cNvPr id="4" name="Team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6998490"/>
              </p:ext>
            </p:extLst>
          </p:nvPr>
        </p:nvGraphicFramePr>
        <p:xfrm>
          <a:off x="374904" y="3444181"/>
          <a:ext cx="6675120" cy="1006998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09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Sr.</a:t>
                      </a:r>
                      <a:endParaRPr lang="en-US" sz="1800" dirty="0"/>
                    </a:p>
                  </a:txBody>
                  <a:tcPr marT="18288" marB="18288" anchor="ctr">
                    <a:lnL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60A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Student Name</a:t>
                      </a:r>
                      <a:endParaRPr lang="en-US" sz="1800" dirty="0"/>
                    </a:p>
                  </a:txBody>
                  <a:tcPr marT="18288" marB="18288" anchor="ctr">
                    <a:lnL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60A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Roll No.</a:t>
                      </a:r>
                      <a:endParaRPr lang="en-US" sz="1800" dirty="0"/>
                    </a:p>
                  </a:txBody>
                  <a:tcPr marT="18288" marB="18288" anchor="ctr">
                    <a:lnL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60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89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B2333"/>
                          </a:solidFill>
                        </a:rPr>
                        <a:t>1</a:t>
                      </a:r>
                      <a:endParaRPr lang="en-US" sz="1800" dirty="0"/>
                    </a:p>
                  </a:txBody>
                  <a:tcPr marT="18288" marB="18288" anchor="ctr">
                    <a:lnL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B2333"/>
                          </a:solidFill>
                        </a:rPr>
                        <a:t>Urja Gajera</a:t>
                      </a:r>
                      <a:endParaRPr lang="en-US" sz="1800" dirty="0"/>
                    </a:p>
                  </a:txBody>
                  <a:tcPr marT="18288" marB="18288" anchor="ctr">
                    <a:lnL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B2333"/>
                          </a:solidFill>
                        </a:rPr>
                        <a:t>24CS021</a:t>
                      </a:r>
                      <a:endParaRPr lang="en-US" sz="1800" dirty="0"/>
                    </a:p>
                  </a:txBody>
                  <a:tcPr marT="18288" marB="18288" anchor="ctr">
                    <a:lnL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D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Mentor card"/>
          <p:cNvSpPr/>
          <p:nvPr/>
        </p:nvSpPr>
        <p:spPr>
          <a:xfrm>
            <a:off x="7232904" y="3425937"/>
            <a:ext cx="2916936" cy="1025242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Mentor header"/>
          <p:cNvSpPr/>
          <p:nvPr/>
        </p:nvSpPr>
        <p:spPr>
          <a:xfrm>
            <a:off x="7232904" y="3431066"/>
            <a:ext cx="2916936" cy="359580"/>
          </a:xfrm>
          <a:prstGeom prst="rect">
            <a:avLst/>
          </a:prstGeom>
          <a:solidFill>
            <a:srgbClr val="1960A3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7" name="Mentor label"/>
          <p:cNvSpPr txBox="1"/>
          <p:nvPr/>
        </p:nvSpPr>
        <p:spPr>
          <a:xfrm>
            <a:off x="7356232" y="3408369"/>
            <a:ext cx="2642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 / </a:t>
            </a:r>
            <a:r>
              <a:rPr lang="en-US" sz="17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</a:t>
            </a:r>
            <a:endParaRPr lang="en-US" sz="1700" dirty="0"/>
          </a:p>
        </p:txBody>
      </p:sp>
      <p:sp>
        <p:nvSpPr>
          <p:cNvPr id="8" name="Mentor name"/>
          <p:cNvSpPr txBox="1"/>
          <p:nvPr/>
        </p:nvSpPr>
        <p:spPr>
          <a:xfrm>
            <a:off x="7315200" y="3844539"/>
            <a:ext cx="2651760" cy="525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Dr. Jigar Sarda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CSE Dept., CSPIT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17" name="System flow card"/>
          <p:cNvSpPr/>
          <p:nvPr/>
        </p:nvSpPr>
        <p:spPr>
          <a:xfrm>
            <a:off x="374904" y="4617804"/>
            <a:ext cx="9774936" cy="260604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System flow header"/>
          <p:cNvSpPr/>
          <p:nvPr/>
        </p:nvSpPr>
        <p:spPr>
          <a:xfrm>
            <a:off x="374904" y="4617804"/>
            <a:ext cx="9774936" cy="411480"/>
          </a:xfrm>
          <a:prstGeom prst="rect">
            <a:avLst/>
          </a:prstGeom>
          <a:solidFill>
            <a:srgbClr val="1960A3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9" name="System flow label"/>
          <p:cNvSpPr txBox="1"/>
          <p:nvPr/>
        </p:nvSpPr>
        <p:spPr>
          <a:xfrm>
            <a:off x="512064" y="4617804"/>
            <a:ext cx="9500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FLOW / </a:t>
            </a:r>
            <a:r>
              <a:rPr lang="en-US" sz="1800" b="1" dirty="0">
                <a:solidFill>
                  <a:schemeClr val="bg1"/>
                </a:solidFill>
                <a:latin typeface="Bahnschrift" panose="020B0502040204020203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800" dirty="0">
              <a:latin typeface="Bahnschrift" panose="020B0502040204020203" pitchFamily="34" charset="0"/>
            </a:endParaRPr>
          </a:p>
        </p:txBody>
      </p:sp>
      <p:sp>
        <p:nvSpPr>
          <p:cNvPr id="20" name="Flow box 1"/>
          <p:cNvSpPr/>
          <p:nvPr/>
        </p:nvSpPr>
        <p:spPr>
          <a:xfrm>
            <a:off x="639731" y="5334618"/>
            <a:ext cx="1554480" cy="135491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1" name="Flow label 1"/>
          <p:cNvSpPr txBox="1"/>
          <p:nvPr/>
        </p:nvSpPr>
        <p:spPr>
          <a:xfrm>
            <a:off x="699516" y="5473638"/>
            <a:ext cx="1444752" cy="10332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500" b="1" dirty="0"/>
              <a:t>User</a:t>
            </a:r>
          </a:p>
          <a:p>
            <a:pPr marL="0" indent="0" algn="ctr">
              <a:buNone/>
            </a:pPr>
            <a:r>
              <a:rPr lang="en-US" sz="1100" b="0" dirty="0"/>
              <a:t>React web app (English, </a:t>
            </a:r>
            <a:r>
              <a:rPr lang="en-US" sz="1000" b="0" dirty="0"/>
              <a:t>हिन्दी</a:t>
            </a:r>
            <a:r>
              <a:rPr lang="en-US" sz="1100" b="0" dirty="0"/>
              <a:t>)</a:t>
            </a:r>
          </a:p>
        </p:txBody>
      </p:sp>
      <p:sp>
        <p:nvSpPr>
          <p:cNvPr id="22" name="Flow arrow 1"/>
          <p:cNvSpPr/>
          <p:nvPr/>
        </p:nvSpPr>
        <p:spPr>
          <a:xfrm>
            <a:off x="2253996" y="5853114"/>
            <a:ext cx="256032" cy="27432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3" name="Flow box 2"/>
          <p:cNvSpPr/>
          <p:nvPr/>
        </p:nvSpPr>
        <p:spPr>
          <a:xfrm>
            <a:off x="2564892" y="5325326"/>
            <a:ext cx="1554480" cy="135491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4" name="Flow label 2"/>
          <p:cNvSpPr txBox="1"/>
          <p:nvPr/>
        </p:nvSpPr>
        <p:spPr>
          <a:xfrm>
            <a:off x="2619756" y="5473638"/>
            <a:ext cx="1444752" cy="10332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>
            <a:lvl1pPr indent="0" algn="ctr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r>
              <a:rPr lang="en-US" sz="1500" b="1" dirty="0">
                <a:solidFill>
                  <a:schemeClr val="tx1"/>
                </a:solidFill>
              </a:rPr>
              <a:t>Express API</a:t>
            </a:r>
          </a:p>
          <a:p>
            <a:r>
              <a:rPr lang="en-US" sz="1100" b="0" dirty="0">
                <a:solidFill>
                  <a:schemeClr val="tx1"/>
                </a:solidFill>
              </a:rPr>
              <a:t>Google sign-in, validation, rate limits</a:t>
            </a:r>
          </a:p>
        </p:txBody>
      </p:sp>
      <p:sp>
        <p:nvSpPr>
          <p:cNvPr id="25" name="Flow arrow 2"/>
          <p:cNvSpPr/>
          <p:nvPr/>
        </p:nvSpPr>
        <p:spPr>
          <a:xfrm>
            <a:off x="4174236" y="5853114"/>
            <a:ext cx="256032" cy="27432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6" name="Flow box 3"/>
          <p:cNvSpPr/>
          <p:nvPr/>
        </p:nvSpPr>
        <p:spPr>
          <a:xfrm>
            <a:off x="4456918" y="5334618"/>
            <a:ext cx="1554480" cy="135491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7" name="Flow label 3"/>
          <p:cNvSpPr txBox="1"/>
          <p:nvPr/>
        </p:nvSpPr>
        <p:spPr>
          <a:xfrm>
            <a:off x="4539996" y="5473638"/>
            <a:ext cx="1444752" cy="10332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500" b="1" dirty="0"/>
              <a:t>Eligibility Engine</a:t>
            </a:r>
          </a:p>
          <a:p>
            <a:pPr marL="0" indent="0" algn="ctr">
              <a:buNone/>
            </a:pPr>
            <a:r>
              <a:rPr lang="en-US" sz="1100" b="0" dirty="0"/>
              <a:t>Rule checks; unknown never excludes</a:t>
            </a:r>
          </a:p>
        </p:txBody>
      </p:sp>
      <p:sp>
        <p:nvSpPr>
          <p:cNvPr id="28" name="Flow arrow 3"/>
          <p:cNvSpPr/>
          <p:nvPr/>
        </p:nvSpPr>
        <p:spPr>
          <a:xfrm>
            <a:off x="6094476" y="5853114"/>
            <a:ext cx="256032" cy="27432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9" name="Flow box 4"/>
          <p:cNvSpPr/>
          <p:nvPr/>
        </p:nvSpPr>
        <p:spPr>
          <a:xfrm>
            <a:off x="6405372" y="5334618"/>
            <a:ext cx="1554480" cy="135491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30" name="Flow label 4"/>
          <p:cNvSpPr txBox="1"/>
          <p:nvPr/>
        </p:nvSpPr>
        <p:spPr>
          <a:xfrm>
            <a:off x="6460236" y="5473638"/>
            <a:ext cx="1444752" cy="10332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500" b="1" dirty="0"/>
              <a:t>PostgreSQL</a:t>
            </a:r>
          </a:p>
          <a:p>
            <a:pPr marL="0" indent="0" algn="ctr">
              <a:buNone/>
            </a:pPr>
            <a:r>
              <a:rPr lang="en-US" sz="1100" b="0" dirty="0"/>
              <a:t>4,722 schemes, 2,987 rule sets (Prisma)</a:t>
            </a:r>
          </a:p>
        </p:txBody>
      </p:sp>
      <p:sp>
        <p:nvSpPr>
          <p:cNvPr id="31" name="Flow arrow 4"/>
          <p:cNvSpPr/>
          <p:nvPr/>
        </p:nvSpPr>
        <p:spPr>
          <a:xfrm>
            <a:off x="8014716" y="5853114"/>
            <a:ext cx="256032" cy="274320"/>
          </a:xfrm>
          <a:prstGeom prst="rightArrow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2" name="Flow box 5"/>
          <p:cNvSpPr/>
          <p:nvPr/>
        </p:nvSpPr>
        <p:spPr>
          <a:xfrm>
            <a:off x="8325612" y="5370289"/>
            <a:ext cx="1554480" cy="135491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3" name="Flow label 5"/>
          <p:cNvSpPr txBox="1"/>
          <p:nvPr/>
        </p:nvSpPr>
        <p:spPr>
          <a:xfrm>
            <a:off x="8380476" y="5473638"/>
            <a:ext cx="1444752" cy="10332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500" b="1" dirty="0"/>
              <a:t>Ranked Results</a:t>
            </a:r>
          </a:p>
          <a:p>
            <a:pPr marL="0" indent="0" algn="ctr">
              <a:buNone/>
            </a:pPr>
            <a:r>
              <a:rPr lang="en-US" sz="1100" b="0" dirty="0"/>
              <a:t>Match %, 100% matches first</a:t>
            </a:r>
          </a:p>
        </p:txBody>
      </p:sp>
      <p:sp>
        <p:nvSpPr>
          <p:cNvPr id="34" name="Flow hint"/>
          <p:cNvSpPr txBox="1"/>
          <p:nvPr/>
        </p:nvSpPr>
        <p:spPr>
          <a:xfrm>
            <a:off x="639731" y="6943488"/>
            <a:ext cx="9409176" cy="29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i="1" dirty="0"/>
              <a:t>Data pipeline: myScheme.gov.in dataset → parser (cleans text, extracts eligibility rules) → PostgreSQL.</a:t>
            </a:r>
          </a:p>
        </p:txBody>
      </p:sp>
      <p:sp>
        <p:nvSpPr>
          <p:cNvPr id="35" name="Tech 1 card"/>
          <p:cNvSpPr/>
          <p:nvPr/>
        </p:nvSpPr>
        <p:spPr>
          <a:xfrm>
            <a:off x="374904" y="7442133"/>
            <a:ext cx="3136392" cy="2161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6" name="Tech 1 header"/>
          <p:cNvSpPr/>
          <p:nvPr/>
        </p:nvSpPr>
        <p:spPr>
          <a:xfrm>
            <a:off x="374904" y="7442133"/>
            <a:ext cx="3136392" cy="352954"/>
          </a:xfrm>
          <a:prstGeom prst="rect">
            <a:avLst/>
          </a:prstGeom>
          <a:solidFill>
            <a:srgbClr val="1960A3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37" name="Tech 1 label"/>
          <p:cNvSpPr txBox="1"/>
          <p:nvPr/>
        </p:nvSpPr>
        <p:spPr>
          <a:xfrm>
            <a:off x="512064" y="7442133"/>
            <a:ext cx="2862072" cy="352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  <a:latin typeface="Bahnschrift" panose="020B0502040204020203" pitchFamily="34" charset="0"/>
                <a:ea typeface="Arial" pitchFamily="34" charset="-122"/>
                <a:cs typeface="Arial" pitchFamily="34" charset="-120"/>
              </a:rPr>
              <a:t>TECHNOLOGY</a:t>
            </a: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STACK</a:t>
            </a:r>
            <a:endParaRPr lang="en-US" sz="1800" dirty="0"/>
          </a:p>
        </p:txBody>
      </p:sp>
      <p:sp>
        <p:nvSpPr>
          <p:cNvPr id="38" name="Tech text 1"/>
          <p:cNvSpPr txBox="1"/>
          <p:nvPr/>
        </p:nvSpPr>
        <p:spPr>
          <a:xfrm>
            <a:off x="512064" y="7899332"/>
            <a:ext cx="2862072" cy="1676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Frontend: React 19, TypeScript, Vite, Tailwind CSS</a:t>
            </a:r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Backend / DB: Node.js, Express, Prisma, PostgreSQL</a:t>
            </a:r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Tools: Google OAuth, Groq AI (Hindi/chat), Vitest (1,035 tests), GitHub Actions CI</a:t>
            </a:r>
          </a:p>
        </p:txBody>
      </p:sp>
      <p:sp>
        <p:nvSpPr>
          <p:cNvPr id="39" name="Tech 2 card"/>
          <p:cNvSpPr/>
          <p:nvPr/>
        </p:nvSpPr>
        <p:spPr>
          <a:xfrm>
            <a:off x="3694176" y="7442133"/>
            <a:ext cx="3136392" cy="2161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0" name="Tech 2 header"/>
          <p:cNvSpPr/>
          <p:nvPr/>
        </p:nvSpPr>
        <p:spPr>
          <a:xfrm>
            <a:off x="3694176" y="7442133"/>
            <a:ext cx="3136392" cy="352954"/>
          </a:xfrm>
          <a:prstGeom prst="rect">
            <a:avLst/>
          </a:prstGeom>
          <a:solidFill>
            <a:srgbClr val="1960A3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41" name="Tech 2 label"/>
          <p:cNvSpPr txBox="1"/>
          <p:nvPr/>
        </p:nvSpPr>
        <p:spPr>
          <a:xfrm>
            <a:off x="3831336" y="7442133"/>
            <a:ext cx="2862072" cy="352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</a:t>
            </a:r>
            <a:r>
              <a:rPr lang="en-US" sz="1800" b="1" dirty="0">
                <a:solidFill>
                  <a:schemeClr val="bg1"/>
                </a:solidFill>
                <a:latin typeface="Bahnschrift" panose="020B0502040204020203" pitchFamily="34" charset="0"/>
                <a:ea typeface="Arial" pitchFamily="34" charset="-122"/>
                <a:cs typeface="Arial" pitchFamily="34" charset="-120"/>
              </a:rPr>
              <a:t>FEATURES</a:t>
            </a:r>
            <a:endParaRPr lang="en-US" sz="1800" dirty="0">
              <a:latin typeface="Bahnschrift" panose="020B0502040204020203" pitchFamily="34" charset="0"/>
            </a:endParaRPr>
          </a:p>
        </p:txBody>
      </p:sp>
      <p:sp>
        <p:nvSpPr>
          <p:cNvPr id="42" name="Tech text 2"/>
          <p:cNvSpPr txBox="1"/>
          <p:nvPr/>
        </p:nvSpPr>
        <p:spPr>
          <a:xfrm>
            <a:off x="3831336" y="7899332"/>
            <a:ext cx="2862072" cy="1676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Eligibility check with match % and reasons</a:t>
            </a:r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Search by 16 topics, state, age, income and occupation</a:t>
            </a:r>
          </a:p>
          <a:p>
            <a:pPr marL="342900" indent="-342900">
              <a:buSzPct val="100000"/>
              <a:buChar char="•"/>
            </a:pPr>
            <a:r>
              <a:rPr lang="en-US" sz="1400" dirty="0" err="1">
                <a:solidFill>
                  <a:schemeClr val="tx1"/>
                </a:solidFill>
              </a:rPr>
              <a:t>SetuAI</a:t>
            </a:r>
            <a:r>
              <a:rPr lang="en-US" sz="1400" dirty="0">
                <a:solidFill>
                  <a:schemeClr val="tx1"/>
                </a:solidFill>
              </a:rPr>
              <a:t> Assistant</a:t>
            </a:r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Profile suggestions, bookmarks, compare up to 3 schemes</a:t>
            </a:r>
          </a:p>
        </p:txBody>
      </p:sp>
      <p:sp>
        <p:nvSpPr>
          <p:cNvPr id="43" name="Tech 3 card"/>
          <p:cNvSpPr/>
          <p:nvPr/>
        </p:nvSpPr>
        <p:spPr>
          <a:xfrm>
            <a:off x="7013448" y="7442133"/>
            <a:ext cx="3136392" cy="2161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4" name="Tech 3 header"/>
          <p:cNvSpPr/>
          <p:nvPr/>
        </p:nvSpPr>
        <p:spPr>
          <a:xfrm>
            <a:off x="7013448" y="7442133"/>
            <a:ext cx="3136392" cy="352954"/>
          </a:xfrm>
          <a:prstGeom prst="rect">
            <a:avLst/>
          </a:prstGeom>
          <a:solidFill>
            <a:srgbClr val="1960A3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45" name="Tech 3 label"/>
          <p:cNvSpPr txBox="1"/>
          <p:nvPr/>
        </p:nvSpPr>
        <p:spPr>
          <a:xfrm>
            <a:off x="7150608" y="7442133"/>
            <a:ext cx="2862072" cy="352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  <a:latin typeface="Bahnschrift" panose="020B0502040204020203" pitchFamily="34" charset="0"/>
                <a:ea typeface="Arial" pitchFamily="34" charset="-122"/>
                <a:cs typeface="Arial" pitchFamily="34" charset="-120"/>
              </a:rPr>
              <a:t>APPLICATIONS</a:t>
            </a:r>
            <a:endParaRPr lang="en-US" sz="1800" dirty="0">
              <a:latin typeface="Bahnschrift" panose="020B0502040204020203" pitchFamily="34" charset="0"/>
            </a:endParaRPr>
          </a:p>
        </p:txBody>
      </p:sp>
      <p:sp>
        <p:nvSpPr>
          <p:cNvPr id="46" name="Tech text 3"/>
          <p:cNvSpPr txBox="1"/>
          <p:nvPr/>
        </p:nvSpPr>
        <p:spPr>
          <a:xfrm>
            <a:off x="7150608" y="7899332"/>
            <a:ext cx="2862072" cy="1676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Citizens finding the schemes they qualify for</a:t>
            </a:r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Students and farmers looking for scholarships, subsidies and loans</a:t>
            </a:r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NGOs and CSC operators helping people apply</a:t>
            </a:r>
          </a:p>
        </p:txBody>
      </p:sp>
      <p:sp>
        <p:nvSpPr>
          <p:cNvPr id="47" name="Screenshots card"/>
          <p:cNvSpPr/>
          <p:nvPr/>
        </p:nvSpPr>
        <p:spPr>
          <a:xfrm>
            <a:off x="374904" y="9801123"/>
            <a:ext cx="9774936" cy="3948146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8" name="Screenshots header"/>
          <p:cNvSpPr/>
          <p:nvPr/>
        </p:nvSpPr>
        <p:spPr>
          <a:xfrm>
            <a:off x="374904" y="9801123"/>
            <a:ext cx="9774936" cy="548354"/>
          </a:xfrm>
          <a:prstGeom prst="rect">
            <a:avLst/>
          </a:prstGeom>
          <a:solidFill>
            <a:srgbClr val="1960A3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49" name="Screenshots label"/>
          <p:cNvSpPr txBox="1"/>
          <p:nvPr/>
        </p:nvSpPr>
        <p:spPr>
          <a:xfrm>
            <a:off x="512064" y="9801123"/>
            <a:ext cx="9500616" cy="548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</a:t>
            </a:r>
            <a:r>
              <a:rPr lang="en-US" sz="1800" b="1" dirty="0">
                <a:solidFill>
                  <a:schemeClr val="bg1"/>
                </a:solidFill>
                <a:latin typeface="Bahnschrift" panose="020B0502040204020203" pitchFamily="34" charset="0"/>
                <a:ea typeface="Arial" pitchFamily="34" charset="-122"/>
                <a:cs typeface="Arial" pitchFamily="34" charset="-120"/>
              </a:rPr>
              <a:t>SCREENSHOTS</a:t>
            </a:r>
            <a:endParaRPr lang="en-US" sz="1800" dirty="0">
              <a:latin typeface="Bahnschrift" panose="020B0502040204020203" pitchFamily="34" charset="0"/>
            </a:endParaRPr>
          </a:p>
        </p:txBody>
      </p:sp>
      <p:sp>
        <p:nvSpPr>
          <p:cNvPr id="50" name="Screenshot frame 1"/>
          <p:cNvSpPr/>
          <p:nvPr/>
        </p:nvSpPr>
        <p:spPr>
          <a:xfrm>
            <a:off x="570675" y="10554727"/>
            <a:ext cx="3014472" cy="2973296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52" name="Screenshot caption 1"/>
          <p:cNvSpPr txBox="1"/>
          <p:nvPr/>
        </p:nvSpPr>
        <p:spPr>
          <a:xfrm>
            <a:off x="570675" y="13139441"/>
            <a:ext cx="3014472" cy="487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2"/>
                </a:solidFill>
              </a:rPr>
              <a:t>Home - search 4,722 schemes</a:t>
            </a:r>
          </a:p>
        </p:txBody>
      </p:sp>
      <p:sp>
        <p:nvSpPr>
          <p:cNvPr id="53" name="Screenshot frame 2"/>
          <p:cNvSpPr/>
          <p:nvPr/>
        </p:nvSpPr>
        <p:spPr>
          <a:xfrm>
            <a:off x="3768027" y="10554727"/>
            <a:ext cx="3014472" cy="2973296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55" name="Screenshot caption 2"/>
          <p:cNvSpPr txBox="1"/>
          <p:nvPr/>
        </p:nvSpPr>
        <p:spPr>
          <a:xfrm>
            <a:off x="3768027" y="13138904"/>
            <a:ext cx="3014472" cy="487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2"/>
                </a:solidFill>
              </a:rPr>
              <a:t>User Dashboard </a:t>
            </a:r>
          </a:p>
        </p:txBody>
      </p:sp>
      <p:sp>
        <p:nvSpPr>
          <p:cNvPr id="56" name="Screenshot frame 3"/>
          <p:cNvSpPr/>
          <p:nvPr/>
        </p:nvSpPr>
        <p:spPr>
          <a:xfrm>
            <a:off x="6965379" y="10554727"/>
            <a:ext cx="3014472" cy="2973296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58" name="Screenshot caption 3"/>
          <p:cNvSpPr txBox="1"/>
          <p:nvPr/>
        </p:nvSpPr>
        <p:spPr>
          <a:xfrm>
            <a:off x="6965378" y="13138904"/>
            <a:ext cx="3001581" cy="487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chemeClr val="tx2"/>
                </a:solidFill>
              </a:rPr>
              <a:t>User Dashboard Hindi interface</a:t>
            </a:r>
          </a:p>
        </p:txBody>
      </p:sp>
      <p:sp>
        <p:nvSpPr>
          <p:cNvPr id="60" name="Mentor label"/>
          <p:cNvSpPr txBox="1"/>
          <p:nvPr/>
        </p:nvSpPr>
        <p:spPr>
          <a:xfrm>
            <a:off x="8142732" y="2507540"/>
            <a:ext cx="22860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Id - CS26015</a:t>
            </a:r>
          </a:p>
        </p:txBody>
      </p:sp>
      <p:sp>
        <p:nvSpPr>
          <p:cNvPr id="62" name="Screenshots header"/>
          <p:cNvSpPr/>
          <p:nvPr/>
        </p:nvSpPr>
        <p:spPr>
          <a:xfrm>
            <a:off x="332852" y="13946419"/>
            <a:ext cx="9802612" cy="514350"/>
          </a:xfrm>
          <a:prstGeom prst="rect">
            <a:avLst/>
          </a:prstGeom>
          <a:solidFill>
            <a:schemeClr val="bg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63" name="Screenshots label"/>
          <p:cNvSpPr txBox="1"/>
          <p:nvPr/>
        </p:nvSpPr>
        <p:spPr>
          <a:xfrm>
            <a:off x="550863" y="13980957"/>
            <a:ext cx="950061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TARGET INDUSTRY / SECTOR : -   E-Governance / Social Welfare (GovTech)</a:t>
            </a:r>
          </a:p>
        </p:txBody>
      </p:sp>
      <p:pic>
        <p:nvPicPr>
          <p:cNvPr id="64" name="Screenshot 1" descr="image.png"/>
          <p:cNvPicPr>
            <a:picLocks noChangeAspect="1"/>
          </p:cNvPicPr>
          <p:nvPr/>
        </p:nvPicPr>
        <p:blipFill>
          <a:blip r:embed="rId3"/>
          <a:srcRect l="5743" t="5443" r="4807" b="15251"/>
          <a:stretch>
            <a:fillRect/>
          </a:stretch>
        </p:blipFill>
        <p:spPr>
          <a:xfrm>
            <a:off x="639731" y="10613926"/>
            <a:ext cx="2871565" cy="24616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2A3B2C-138A-9826-E57A-35B480433D4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9720"/>
          <a:stretch>
            <a:fillRect/>
          </a:stretch>
        </p:blipFill>
        <p:spPr>
          <a:xfrm>
            <a:off x="3819538" y="10627880"/>
            <a:ext cx="2911449" cy="251156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76E2E32-B898-905E-EF7F-73733277E1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2102" y="10627879"/>
            <a:ext cx="2847990" cy="25115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HARUSAT Poster">
  <a:themeElements>
    <a:clrScheme name="Office">
      <a:dk1>
        <a:sysClr val="windowText" lastClr="000000"/>
      </a:dk1>
      <a:lt1>
        <a:sysClr val="window" lastClr="FFFFFF"/>
      </a:lt1>
      <a:dk2>
        <a:srgbClr val="002045"/>
      </a:dk2>
      <a:lt2>
        <a:srgbClr val="EFEDF1"/>
      </a:lt2>
      <a:accent1>
        <a:srgbClr val="7DB6FF"/>
      </a:accent1>
      <a:accent2>
        <a:srgbClr val="1960A3"/>
      </a:accent2>
      <a:accent3>
        <a:srgbClr val="A5A5A5"/>
      </a:accent3>
      <a:accent4>
        <a:srgbClr val="FFC000"/>
      </a:accent4>
      <a:accent5>
        <a:srgbClr val="002045"/>
      </a:accent5>
      <a:accent6>
        <a:srgbClr val="70AD47"/>
      </a:accent6>
      <a:hlink>
        <a:srgbClr val="0563C1"/>
      </a:hlink>
      <a:folHlink>
        <a:srgbClr val="954F72"/>
      </a:folHlink>
    </a:clrScheme>
    <a:fontScheme name="CHARUSAT Post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2045"/>
      </a:dk2>
      <a:lt2>
        <a:srgbClr val="EFEDF1"/>
      </a:lt2>
      <a:accent1>
        <a:srgbClr val="7DB6FF"/>
      </a:accent1>
      <a:accent2>
        <a:srgbClr val="1960A3"/>
      </a:accent2>
      <a:accent3>
        <a:srgbClr val="A5A5A5"/>
      </a:accent3>
      <a:accent4>
        <a:srgbClr val="FFC000"/>
      </a:accent4>
      <a:accent5>
        <a:srgbClr val="00204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</TotalTime>
  <Words>253</Words>
  <Application>Microsoft Office PowerPoint</Application>
  <PresentationFormat>Custom</PresentationFormat>
  <Paragraphs>44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Bahnschrift</vt:lpstr>
      <vt:lpstr>CHARUSAT Poster</vt:lpstr>
      <vt:lpstr>SCHEMESETU SMART GOVERNMENT SCHEME FINDER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Project-I Exhibition Poster (A3)</dc:title>
  <dc:subject>PptxGenJS Presentation</dc:subject>
  <dc:creator>CSE Department, CSPIT, CHARUSAT</dc:creator>
  <cp:lastModifiedBy>Urja Gajera</cp:lastModifiedBy>
  <cp:revision>10</cp:revision>
  <dcterms:created xsi:type="dcterms:W3CDTF">2026-10-18T12:32:38Z</dcterms:created>
  <dcterms:modified xsi:type="dcterms:W3CDTF">2026-10-22T08:46:51Z</dcterms:modified>
</cp:coreProperties>
</file>